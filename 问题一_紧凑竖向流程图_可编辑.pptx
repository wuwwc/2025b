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d2b931d584c51" /><Relationship Type="http://schemas.openxmlformats.org/officeDocument/2006/relationships/extended-properties" Target="/docProps/app.xml" Id="R744096b2ac0e4f15" /><Relationship Type="http://schemas.openxmlformats.org/officeDocument/2006/relationships/officeDocument" Target="/ppt/presentation.xml" Id="R39acdb87e7ff46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8a44d25d874c5b"/>
  </p:sldMasterIdLst>
  <p:notesMasterIdLst>
    <p:notesMasterId xmlns:r="http://schemas.openxmlformats.org/officeDocument/2006/relationships" r:id="R7888c13dd44645f2"/>
  </p:notesMasterIdLst>
  <p:sldIdLst>
    <p:sldId xmlns:r="http://schemas.openxmlformats.org/officeDocument/2006/relationships" id="256" r:id="R8656b2662b3f47fe"/>
  </p:sldIdLst>
  <p:sldSz cx="6858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96ad0465c74d3e" /><Relationship Type="http://schemas.openxmlformats.org/officeDocument/2006/relationships/slideMaster" Target="/ppt/slideMasters/slideMaster1.xml" Id="R388a44d25d874c5b" /><Relationship Type="http://schemas.openxmlformats.org/officeDocument/2006/relationships/notesMaster" Target="/ppt/notesMasters/notesMaster1.xml" Id="R7888c13dd44645f2" /><Relationship Type="http://schemas.openxmlformats.org/officeDocument/2006/relationships/presProps" Target="/ppt/presProps.xml" Id="R0cf3b898a03049b6" /><Relationship Type="http://schemas.openxmlformats.org/officeDocument/2006/relationships/tableStyles" Target="/ppt/tableStyles.xml" Id="R653e7e3a352347ac" /><Relationship Type="http://schemas.openxmlformats.org/officeDocument/2006/relationships/slide" Target="/ppt/slides/slide1.xml" Id="R8656b2662b3f47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e1efd1baca40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3882b71fe944f9" /><Relationship Type="http://schemas.openxmlformats.org/officeDocument/2006/relationships/notesMaster" Target="/ppt/notesMasters/notesMaster1.xml" Id="Rb210d5ff784f47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本页依据项目中问题一的模型流程图重建。所有框、连线、文字与公式均为 PowerPoint 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aff13a64b4f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67674d228b4ceb" /><Relationship Type="http://schemas.openxmlformats.org/officeDocument/2006/relationships/slideLayout" Target="/ppt/slideLayouts/slideLayout1.xml" Id="Refa0083d22a64e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a0083d22a64e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412be747344de" /><Relationship Type="http://schemas.openxmlformats.org/officeDocument/2006/relationships/notesSlide" Target="/ppt/notesSlides/notesSlide1.xml" Id="Re919147293af45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566B19-3AEA-4EDE-870B-15B79665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575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2100" b="1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问题一：参数拟合与速率预测流程</a:t>
            </a:r>
          </a:p>
        </p:txBody>
      </p:sp>
      <p:sp>
        <p:nvSpPr>
          <p:cNvPr id="2" name="frame-A">
            <a:extLst xmlns:a="http://schemas.openxmlformats.org/drawingml/2006/main">
              <a:ext uri="{FF2B5EF4-FFF2-40B4-BE49-F238E27FC236}">
                <a16:creationId xmlns:a16="http://schemas.microsoft.com/office/drawing/2014/main" id="{7B3836DE-1A0C-4E4A-AFC7-E7F3C4E9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6057900" cy="767715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20003">
            <a:solidFill>
              <a:srgbClr val="4C78A8"/>
            </a:solidFill>
            <a:prstDash val="solid"/>
          </a:ln>
        </p:spPr>
      </p:sp>
      <p:sp>
        <p:nvSpPr>
          <p:cNvPr id="3" name="frame-A-title">
            <a:extLst xmlns:a="http://schemas.openxmlformats.org/drawingml/2006/main">
              <a:ext uri="{FF2B5EF4-FFF2-40B4-BE49-F238E27FC236}">
                <a16:creationId xmlns:a16="http://schemas.microsoft.com/office/drawing/2014/main" id="{29463586-53F3-4EBE-8B24-CFEEC6AE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9650"/>
            <a:ext cx="537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C78A8"/>
                </a:solidFill>
                <a:latin typeface="SimSun"/>
                <a:ea typeface="SimSun"/>
                <a:cs typeface="SimSun"/>
              </a:defRPr>
            </a:pPr>
            <a:r>
              <a:rPr sz="1500" b="1" i="0">
                <a:solidFill>
                  <a:srgbClr val="4C78A8"/>
                </a:solidFill>
                <a:latin typeface="SimSun"/>
                <a:ea typeface="SimSun"/>
                <a:cs typeface="SimSun"/>
              </a:rPr>
              <a:t>大框 A：基于数据集 A 的参数拟合</a:t>
            </a:r>
          </a:p>
        </p:txBody>
      </p:sp>
      <p:sp>
        <p:nvSpPr>
          <p:cNvPr id="4" name="raw-data-A">
            <a:extLst xmlns:a="http://schemas.openxmlformats.org/drawingml/2006/main">
              <a:ext uri="{FF2B5EF4-FFF2-40B4-BE49-F238E27FC236}">
                <a16:creationId xmlns:a16="http://schemas.microsoft.com/office/drawing/2014/main" id="{41DBE637-9F44-4E0A-8A86-3EBE7CF3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991100" cy="1162050"/>
          </a:xfrm>
          <a:prstGeom xmlns:a="http://schemas.openxmlformats.org/drawingml/2006/main" prst="roundRect">
            <a:avLst>
              <a:gd name="adj" fmla="val 1065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16193">
            <a:solidFill>
              <a:srgbClr val="8A969F"/>
            </a:solidFill>
            <a:prstDash val="solid"/>
          </a:ln>
        </p:spPr>
      </p:sp>
      <p:sp>
        <p:nvSpPr>
          <p:cNvPr id="5" name="raw-data-A-title">
            <a:extLst xmlns:a="http://schemas.openxmlformats.org/drawingml/2006/main">
              <a:ext uri="{FF2B5EF4-FFF2-40B4-BE49-F238E27FC236}">
                <a16:creationId xmlns:a16="http://schemas.microsoft.com/office/drawing/2014/main" id="{C79F4764-4EF5-4AD5-9453-B5B4C5E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500" b="1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原始数据 A</a:t>
            </a:r>
          </a:p>
        </p:txBody>
      </p:sp>
      <p:sp>
        <p:nvSpPr>
          <p:cNvPr id="6" name="raw-data-A-formula-1">
            <a:extLst xmlns:a="http://schemas.openxmlformats.org/drawingml/2006/main">
              <a:ext uri="{FF2B5EF4-FFF2-40B4-BE49-F238E27FC236}">
                <a16:creationId xmlns:a16="http://schemas.microsoft.com/office/drawing/2014/main" id="{DE58FB4B-4923-4E07-9B23-707753F5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r>
              <a:rPr sz="142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rPr>
              <a:t>𝒟_A = {H⁽ʲ⁾, Pₙ⁽ʲ⁾, yⱼ}</a:t>
            </a:r>
          </a:p>
        </p:txBody>
      </p:sp>
      <p:sp>
        <p:nvSpPr>
          <p:cNvPr id="7" name="raw-data-A-formula-2">
            <a:extLst xmlns:a="http://schemas.openxmlformats.org/drawingml/2006/main">
              <a:ext uri="{FF2B5EF4-FFF2-40B4-BE49-F238E27FC236}">
                <a16:creationId xmlns:a16="http://schemas.microsoft.com/office/drawing/2014/main" id="{87E1303A-5D0B-4A5A-97CB-BC2E8FA6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r>
              <a:rPr sz="1200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rPr>
              <a:t>H⁽ʲ⁾ ∈ ℂ^(2×4×122)，TxBF = 0</a:t>
            </a:r>
          </a:p>
        </p:txBody>
      </p:sp>
      <p:sp>
        <p:nvSpPr>
          <p:cNvPr id="8" name="carrier-sinr">
            <a:extLst xmlns:a="http://schemas.openxmlformats.org/drawingml/2006/main">
              <a:ext uri="{FF2B5EF4-FFF2-40B4-BE49-F238E27FC236}">
                <a16:creationId xmlns:a16="http://schemas.microsoft.com/office/drawing/2014/main" id="{4510A14C-E5D7-4937-B302-A34ADDDC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4991100" cy="1162050"/>
          </a:xfrm>
          <a:prstGeom xmlns:a="http://schemas.openxmlformats.org/drawingml/2006/main" prst="roundRect">
            <a:avLst>
              <a:gd name="adj" fmla="val 10656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6193">
            <a:solidFill>
              <a:srgbClr val="4C78A8"/>
            </a:solidFill>
            <a:prstDash val="solid"/>
          </a:ln>
        </p:spPr>
      </p:sp>
      <p:sp>
        <p:nvSpPr>
          <p:cNvPr id="9" name="carrier-sinr-title">
            <a:extLst xmlns:a="http://schemas.openxmlformats.org/drawingml/2006/main">
              <a:ext uri="{FF2B5EF4-FFF2-40B4-BE49-F238E27FC236}">
                <a16:creationId xmlns:a16="http://schemas.microsoft.com/office/drawing/2014/main" id="{6DDD9697-92C3-46C1-8C06-F0445FEE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500" b="1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载波级 SINR</a:t>
            </a:r>
          </a:p>
        </p:txBody>
      </p:sp>
      <p:sp>
        <p:nvSpPr>
          <p:cNvPr id="10" name="carrier-sinr-formula-1">
            <a:extLst xmlns:a="http://schemas.openxmlformats.org/drawingml/2006/main">
              <a:ext uri="{FF2B5EF4-FFF2-40B4-BE49-F238E27FC236}">
                <a16:creationId xmlns:a16="http://schemas.microsoft.com/office/drawing/2014/main" id="{3F6607A6-01CC-4B4C-9BEE-D669A156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464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r>
              <a:rPr sz="1350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rPr>
              <a:t>γⱼ,ₖ = ‖Hₖ⁽ʲ⁾‖²_F / Pₙ⁽ʲ⁾，k = 1,…,122</a:t>
            </a:r>
          </a:p>
        </p:txBody>
      </p:sp>
      <p:sp>
        <p:nvSpPr>
          <p:cNvPr id="11" name="fitting-region">
            <a:extLst xmlns:a="http://schemas.openxmlformats.org/drawingml/2006/main">
              <a:ext uri="{FF2B5EF4-FFF2-40B4-BE49-F238E27FC236}">
                <a16:creationId xmlns:a16="http://schemas.microsoft.com/office/drawing/2014/main" id="{DBDCD3AC-38DD-4242-B591-21B8E859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5486400" cy="3314700"/>
          </a:xfrm>
          <a:prstGeom xmlns:a="http://schemas.openxmlformats.org/drawingml/2006/main" prst="roundRect">
            <a:avLst>
              <a:gd name="adj" fmla="val 431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12" name="fitting-region-label">
            <a:extLst xmlns:a="http://schemas.openxmlformats.org/drawingml/2006/main">
              <a:ext uri="{FF2B5EF4-FFF2-40B4-BE49-F238E27FC236}">
                <a16:creationId xmlns:a16="http://schemas.microsoft.com/office/drawing/2014/main" id="{7F6266D5-7482-4EE8-B81C-29CEEB11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2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参数拟合区域</a:t>
            </a:r>
          </a:p>
        </p:txBody>
      </p:sp>
      <p:sp>
        <p:nvSpPr>
          <p:cNvPr id="13" name="effective-sinr">
            <a:extLst xmlns:a="http://schemas.openxmlformats.org/drawingml/2006/main">
              <a:ext uri="{FF2B5EF4-FFF2-40B4-BE49-F238E27FC236}">
                <a16:creationId xmlns:a16="http://schemas.microsoft.com/office/drawing/2014/main" id="{6F6B49F5-92E9-4839-8AE1-56406B66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4991100" cy="1219200"/>
          </a:xfrm>
          <a:prstGeom xmlns:a="http://schemas.openxmlformats.org/drawingml/2006/main" prst="roundRect">
            <a:avLst>
              <a:gd name="adj" fmla="val 10156"/>
            </a:avLst>
          </a:prstGeom>
          <a:solidFill xmlns:a="http://schemas.openxmlformats.org/drawingml/2006/main">
            <a:srgbClr val="EEF8F6"/>
          </a:solidFill>
          <a:ln xmlns:a="http://schemas.openxmlformats.org/drawingml/2006/main" w="16193">
            <a:solidFill>
              <a:srgbClr val="2A9D8F"/>
            </a:solidFill>
            <a:prstDash val="solid"/>
          </a:ln>
        </p:spPr>
      </p:sp>
      <p:sp>
        <p:nvSpPr>
          <p:cNvPr id="14" name="effective-sinr-title">
            <a:extLst xmlns:a="http://schemas.openxmlformats.org/drawingml/2006/main">
              <a:ext uri="{FF2B5EF4-FFF2-40B4-BE49-F238E27FC236}">
                <a16:creationId xmlns:a16="http://schemas.microsoft.com/office/drawing/2014/main" id="{05D57A83-3BBB-46BE-BF3A-E66A141B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0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500" b="1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等效 SINR：SINR_eff</a:t>
            </a:r>
          </a:p>
        </p:txBody>
      </p:sp>
      <p:sp>
        <p:nvSpPr>
          <p:cNvPr id="15" name="effective-sinr-formula-1">
            <a:extLst xmlns:a="http://schemas.openxmlformats.org/drawingml/2006/main">
              <a:ext uri="{FF2B5EF4-FFF2-40B4-BE49-F238E27FC236}">
                <a16:creationId xmlns:a16="http://schemas.microsoft.com/office/drawing/2014/main" id="{75E6E1C8-B3FA-44A8-919E-2EC4431F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62600"/>
            <a:ext cx="464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r>
              <a:rPr sz="127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rPr>
              <a:t>zⱼ(α,β) = −α ln[(1/122) ∑ₖ₌₁¹²² exp(−γⱼ,ₖ/β)]</a:t>
            </a:r>
          </a:p>
        </p:txBody>
      </p:sp>
      <p:sp>
        <p:nvSpPr>
          <p:cNvPr id="16" name="mcs-index">
            <a:extLst xmlns:a="http://schemas.openxmlformats.org/drawingml/2006/main">
              <a:ext uri="{FF2B5EF4-FFF2-40B4-BE49-F238E27FC236}">
                <a16:creationId xmlns:a16="http://schemas.microsoft.com/office/drawing/2014/main" id="{8A1BD5A6-6D3B-4EB3-B83F-9D666438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77050"/>
            <a:ext cx="4991100" cy="1066800"/>
          </a:xfrm>
          <a:prstGeom xmlns:a="http://schemas.openxmlformats.org/drawingml/2006/main" prst="roundRect">
            <a:avLst>
              <a:gd name="adj" fmla="val 11607"/>
            </a:avLst>
          </a:prstGeom>
          <a:solidFill xmlns:a="http://schemas.openxmlformats.org/drawingml/2006/main">
            <a:srgbClr val="F6F1F8"/>
          </a:solidFill>
          <a:ln xmlns:a="http://schemas.openxmlformats.org/drawingml/2006/main" w="16193">
            <a:solidFill>
              <a:srgbClr val="7A5195"/>
            </a:solidFill>
            <a:prstDash val="solid"/>
          </a:ln>
        </p:spPr>
      </p:sp>
      <p:sp>
        <p:nvSpPr>
          <p:cNvPr id="17" name="mcs-index-title">
            <a:extLst xmlns:a="http://schemas.openxmlformats.org/drawingml/2006/main">
              <a:ext uri="{FF2B5EF4-FFF2-40B4-BE49-F238E27FC236}">
                <a16:creationId xmlns:a16="http://schemas.microsoft.com/office/drawing/2014/main" id="{B9EB7EDB-D0DC-4E1C-9B47-1C08FC1F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972300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500" b="1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MCS（速率索引）</a:t>
            </a:r>
          </a:p>
        </p:txBody>
      </p:sp>
      <p:sp>
        <p:nvSpPr>
          <p:cNvPr id="18" name="mcs-index-formula-1">
            <a:extLst xmlns:a="http://schemas.openxmlformats.org/drawingml/2006/main">
              <a:ext uri="{FF2B5EF4-FFF2-40B4-BE49-F238E27FC236}">
                <a16:creationId xmlns:a16="http://schemas.microsoft.com/office/drawing/2014/main" id="{94B59560-0526-4A86-A91D-E3FB0F2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296150"/>
            <a:ext cx="464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r>
              <a:rPr sz="142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rPr>
              <a:t>yⱼ ∈ {m₀, m₁, …, m_L}</a:t>
            </a:r>
          </a:p>
        </p:txBody>
      </p:sp>
      <p:cxnSp>
        <p:nvCxnSpPr>
          <p:cNvPr id="55" name="arrow-raw-to-sinr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429000" y="28194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A8"/>
            </a:solidFill>
            <a:prstDash val="solid"/>
            <a:tailEnd type="triangle" w="med" len="med"/>
          </a:ln>
        </p:spPr>
      </p:cxnSp>
      <p:sp>
        <p:nvSpPr>
          <p:cNvPr id="20" name="method-raw-to-sinr">
            <a:extLst xmlns:a="http://schemas.openxmlformats.org/drawingml/2006/main">
              <a:ext uri="{FF2B5EF4-FFF2-40B4-BE49-F238E27FC236}">
                <a16:creationId xmlns:a16="http://schemas.microsoft.com/office/drawing/2014/main" id="{94B8E89F-118A-411D-95E7-14644E0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86075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050" b="0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Frobenius 范数与底噪归一化</a:t>
            </a:r>
          </a:p>
        </p:txBody>
      </p:sp>
      <p:cxnSp>
        <p:nvCxnSpPr>
          <p:cNvPr id="57" name="arrow-sinr-to-eff"/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429000" y="44958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A8"/>
            </a:solidFill>
            <a:prstDash val="solid"/>
            <a:tailEnd type="triangle" w="med" len="med"/>
          </a:ln>
        </p:spPr>
      </p:cxnSp>
      <p:sp>
        <p:nvSpPr>
          <p:cNvPr id="22" name="method-sinr-to-eff">
            <a:extLst xmlns:a="http://schemas.openxmlformats.org/drawingml/2006/main">
              <a:ext uri="{FF2B5EF4-FFF2-40B4-BE49-F238E27FC236}">
                <a16:creationId xmlns:a16="http://schemas.microsoft.com/office/drawing/2014/main" id="{F7EDC6BE-18C6-4D9C-A058-585A595F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3276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050" b="0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EESM 指数映射：φ(x) = 1 − e^(−x)</a:t>
            </a:r>
          </a:p>
        </p:txBody>
      </p:sp>
      <p:cxnSp>
        <p:nvCxnSpPr>
          <p:cNvPr id="59" name="arrow-eff-to-mcs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429000" y="63627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C78A8"/>
            </a:solidFill>
            <a:prstDash val="solid"/>
            <a:tailEnd type="triangle" w="med" len="med"/>
          </a:ln>
        </p:spPr>
      </p:cxnSp>
      <p:sp>
        <p:nvSpPr>
          <p:cNvPr id="24" name="method-eff-to-mcs">
            <a:extLst xmlns:a="http://schemas.openxmlformats.org/drawingml/2006/main">
              <a:ext uri="{FF2B5EF4-FFF2-40B4-BE49-F238E27FC236}">
                <a16:creationId xmlns:a16="http://schemas.microsoft.com/office/drawing/2014/main" id="{51BBE2D1-B931-481C-BE0C-23425EE2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5795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050" b="0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有序阈值映射：ŷ = Q_τ(z)</a:t>
            </a:r>
          </a:p>
        </p:txBody>
      </p:sp>
      <p:sp>
        <p:nvSpPr>
          <p:cNvPr id="25" name="raw-data-B">
            <a:extLst xmlns:a="http://schemas.openxmlformats.org/drawingml/2006/main">
              <a:ext uri="{FF2B5EF4-FFF2-40B4-BE49-F238E27FC236}">
                <a16:creationId xmlns:a16="http://schemas.microsoft.com/office/drawing/2014/main" id="{742BD344-ADE0-4651-A2E9-BA199873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906000"/>
            <a:ext cx="4991100" cy="1257300"/>
          </a:xfrm>
          <a:prstGeom xmlns:a="http://schemas.openxmlformats.org/drawingml/2006/main" prst="roundRect">
            <a:avLst>
              <a:gd name="adj" fmla="val 9848"/>
            </a:avLst>
          </a:prstGeom>
          <a:solidFill xmlns:a="http://schemas.openxmlformats.org/drawingml/2006/main">
            <a:srgbClr val="F1F8EF"/>
          </a:solidFill>
          <a:ln xmlns:a="http://schemas.openxmlformats.org/drawingml/2006/main" w="16193">
            <a:solidFill>
              <a:srgbClr val="59A14F"/>
            </a:solidFill>
            <a:prstDash val="solid"/>
          </a:ln>
        </p:spPr>
      </p:sp>
      <p:sp>
        <p:nvSpPr>
          <p:cNvPr id="26" name="raw-data-B-title">
            <a:extLst xmlns:a="http://schemas.openxmlformats.org/drawingml/2006/main">
              <a:ext uri="{FF2B5EF4-FFF2-40B4-BE49-F238E27FC236}">
                <a16:creationId xmlns:a16="http://schemas.microsoft.com/office/drawing/2014/main" id="{859DF6BF-5B2E-42A5-9C5D-6523FD4D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001250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500" b="1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原始数据 B</a:t>
            </a:r>
          </a:p>
        </p:txBody>
      </p:sp>
      <p:sp>
        <p:nvSpPr>
          <p:cNvPr id="27" name="raw-data-B-formula-1">
            <a:extLst xmlns:a="http://schemas.openxmlformats.org/drawingml/2006/main">
              <a:ext uri="{FF2B5EF4-FFF2-40B4-BE49-F238E27FC236}">
                <a16:creationId xmlns:a16="http://schemas.microsoft.com/office/drawing/2014/main" id="{A82F8FE7-CD65-4628-A986-2F2C8639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3251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r>
              <a:rPr sz="142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rPr>
              <a:t>𝒟_B = {H⁽ʲ⁾, Pₙ⁽ʲ⁾}</a:t>
            </a:r>
          </a:p>
        </p:txBody>
      </p:sp>
      <p:sp>
        <p:nvSpPr>
          <p:cNvPr id="28" name="raw-data-B-formula-2">
            <a:extLst xmlns:a="http://schemas.openxmlformats.org/drawingml/2006/main">
              <a:ext uri="{FF2B5EF4-FFF2-40B4-BE49-F238E27FC236}">
                <a16:creationId xmlns:a16="http://schemas.microsoft.com/office/drawing/2014/main" id="{D5F242A5-98B9-41EF-A111-9CC3B69E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489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r>
              <a:rPr sz="1200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rPr>
              <a:t>H⁽ʲ⁾ ∈ ℂ^(2×4×122)，不含 MCS 标签</a:t>
            </a:r>
          </a:p>
        </p:txBody>
      </p:sp>
      <p:cxnSp>
        <p:nvCxnSpPr>
          <p:cNvPr id="65" name="arrow-fit-to-B"/>
          <p:cNvCxnSpPr>
            <a:stCxn xmlns:a="http://schemas.openxmlformats.org/drawingml/2006/main" id="1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429000" y="8220075"/>
            <a:ext cx="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52388">
            <a:solidFill>
              <a:srgbClr val="7A5195"/>
            </a:solidFill>
            <a:prstDash val="solid"/>
            <a:tailEnd type="triangle" w="lg" len="lg"/>
          </a:ln>
        </p:spPr>
      </p:cxnSp>
      <p:sp>
        <p:nvSpPr>
          <p:cNvPr id="30" name="fit-model-note">
            <a:extLst xmlns:a="http://schemas.openxmlformats.org/drawingml/2006/main">
              <a:ext uri="{FF2B5EF4-FFF2-40B4-BE49-F238E27FC236}">
                <a16:creationId xmlns:a16="http://schemas.microsoft.com/office/drawing/2014/main" id="{28A40124-9005-449C-96A8-92149151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496300"/>
            <a:ext cx="2171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A5195"/>
                </a:solidFill>
                <a:latin typeface="SimSun"/>
                <a:ea typeface="SimSun"/>
                <a:cs typeface="SimSun"/>
              </a:defRPr>
            </a:pPr>
            <a:r>
              <a:rPr sz="1275" b="1" i="0">
                <a:solidFill>
                  <a:srgbClr val="7A5195"/>
                </a:solidFill>
                <a:latin typeface="SimSun"/>
                <a:ea typeface="SimSun"/>
                <a:cs typeface="SimSun"/>
              </a:rPr>
              <a:t>参数拟合模型</a:t>
            </a:r>
          </a:p>
          <a:p xmlns:a="http://schemas.openxmlformats.org/drawingml/2006/main">
            <a:pPr algn="l">
              <a:defRPr sz="1275" b="1" i="0">
                <a:solidFill>
                  <a:srgbClr val="7A5195"/>
                </a:solidFill>
                <a:latin typeface="SimSun"/>
                <a:ea typeface="SimSun"/>
                <a:cs typeface="SimSun"/>
              </a:defRPr>
            </a:pPr>
            <a:r>
              <a:rPr sz="1275" b="1" i="0">
                <a:solidFill>
                  <a:srgbClr val="7A5195"/>
                </a:solidFill>
                <a:latin typeface="SimSun"/>
                <a:ea typeface="SimSun"/>
                <a:cs typeface="SimSun"/>
              </a:rPr>
              <a:t>EESM + 有序阈值</a:t>
            </a:r>
          </a:p>
        </p:txBody>
      </p:sp>
      <p:sp>
        <p:nvSpPr>
          <p:cNvPr id="31" name="fitted-parameters">
            <a:extLst xmlns:a="http://schemas.openxmlformats.org/drawingml/2006/main">
              <a:ext uri="{FF2B5EF4-FFF2-40B4-BE49-F238E27FC236}">
                <a16:creationId xmlns:a16="http://schemas.microsoft.com/office/drawing/2014/main" id="{098554CC-3EA3-415E-98E0-27375D06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86850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r>
              <a:rPr sz="127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rPr>
              <a:t>α̂ = 1，β̂_ord</a:t>
            </a:r>
          </a:p>
          <a:p xmlns:a="http://schemas.openxmlformats.org/drawingml/2006/main">
            <a:pPr algn="l">
              <a:defRPr sz="127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r>
              <a:rPr sz="127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rPr>
              <a:t>τ̂₁,…,τ̂_L</a:t>
            </a:r>
          </a:p>
        </p:txBody>
      </p:sp>
      <p:sp>
        <p:nvSpPr>
          <p:cNvPr id="32" name="mcs-prediction">
            <a:extLst xmlns:a="http://schemas.openxmlformats.org/drawingml/2006/main">
              <a:ext uri="{FF2B5EF4-FFF2-40B4-BE49-F238E27FC236}">
                <a16:creationId xmlns:a16="http://schemas.microsoft.com/office/drawing/2014/main" id="{268DA80C-0E9F-4722-886D-B7EB22BD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230100"/>
            <a:ext cx="4991100" cy="1066800"/>
          </a:xfrm>
          <a:prstGeom xmlns:a="http://schemas.openxmlformats.org/drawingml/2006/main" prst="roundRect">
            <a:avLst>
              <a:gd name="adj" fmla="val 11607"/>
            </a:avLst>
          </a:prstGeom>
          <a:solidFill xmlns:a="http://schemas.openxmlformats.org/drawingml/2006/main">
            <a:srgbClr val="F6F1F8"/>
          </a:solidFill>
          <a:ln xmlns:a="http://schemas.openxmlformats.org/drawingml/2006/main" w="16193">
            <a:solidFill>
              <a:srgbClr val="7A5195"/>
            </a:solidFill>
            <a:prstDash val="solid"/>
          </a:ln>
        </p:spPr>
      </p:sp>
      <p:sp>
        <p:nvSpPr>
          <p:cNvPr id="33" name="mcs-prediction-title">
            <a:extLst xmlns:a="http://schemas.openxmlformats.org/drawingml/2006/main">
              <a:ext uri="{FF2B5EF4-FFF2-40B4-BE49-F238E27FC236}">
                <a16:creationId xmlns:a16="http://schemas.microsoft.com/office/drawing/2014/main" id="{8CB48545-CA01-4E78-B3AE-542A73B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25350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500" b="1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MCS 预测结果</a:t>
            </a:r>
          </a:p>
        </p:txBody>
      </p:sp>
      <p:sp>
        <p:nvSpPr>
          <p:cNvPr id="34" name="mcs-prediction-formula-1">
            <a:extLst xmlns:a="http://schemas.openxmlformats.org/drawingml/2006/main">
              <a:ext uri="{FF2B5EF4-FFF2-40B4-BE49-F238E27FC236}">
                <a16:creationId xmlns:a16="http://schemas.microsoft.com/office/drawing/2014/main" id="{D01CE4B1-C236-46F7-9190-3B7C7743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649200"/>
            <a:ext cx="464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r>
              <a:rPr sz="142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rPr>
              <a:t>ŷⱼ = Q_τ̂ [ zⱼ(1, β̂_ord) ]</a:t>
            </a:r>
          </a:p>
        </p:txBody>
      </p:sp>
      <p:cxnSp>
        <p:nvCxnSpPr>
          <p:cNvPr id="71" name="arrow-B-to-result"/>
          <p:cNvCxnSpPr>
            <a:stCxn xmlns:a="http://schemas.openxmlformats.org/drawingml/2006/main" id="25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3429000" y="11163300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59A14F"/>
            </a:solidFill>
            <a:prstDash val="solid"/>
            <a:tailEnd type="triangle" w="med" len="med"/>
          </a:ln>
        </p:spPr>
      </p:cxnSp>
      <p:sp>
        <p:nvSpPr>
          <p:cNvPr id="36" name="method-B-to-result">
            <a:extLst xmlns:a="http://schemas.openxmlformats.org/drawingml/2006/main">
              <a:ext uri="{FF2B5EF4-FFF2-40B4-BE49-F238E27FC236}">
                <a16:creationId xmlns:a16="http://schemas.microsoft.com/office/drawing/2014/main" id="{56179783-6775-404F-B629-8FE0DBFF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14109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125" b="0" i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应用拟合参数，执行主模型</a:t>
            </a:r>
          </a:p>
        </p:txBody>
      </p:sp>
    </p:spTree>
    <p:extLst>
      <p:ext uri="{BB962C8B-B14F-4D97-AF65-F5344CB8AC3E}">
        <p14:creationId xmlns:p14="http://schemas.microsoft.com/office/powerpoint/2010/main" val="1943340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2026-09-19T00:27:10.9800000Z</dcterms:created>
  <dcterms:modified xsi:type="dcterms:W3CDTF">2026-09-19T00:27:10.9800000Z</dcterms:modified>
</coreProperties>
</file>