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D8D89-F520-FBCA-E8A8-BED00A668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55BA85-9D75-06CD-CE82-6E709A284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C2837-38AE-10C9-A99E-A22EBF79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3E05D-23A1-84EB-E2E3-FBE34AA0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399092-EBB4-91B1-770E-220C21DF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AC38A-3D67-78DD-7104-231FA2AA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52C992-15C4-605F-6810-70A0FA20F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16CB21-5D3D-4076-D6DD-4CDBF902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E23D2-245F-49C7-4C49-E3DD689E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95453-4283-8A49-4F8F-B0FFC4F4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07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341E0-8D20-0215-A1FB-57E0A36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4B362-EF89-6E06-13CA-81AE65A63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C945C-E33B-A5CE-A9BE-220C77C7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2492F-D24F-4828-C7B0-B12BB2C8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D4464-F703-43A9-C953-0CEF8BE5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93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BCB1-08E7-9ACC-47D6-06009709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7BCEB-8764-BA5D-86A7-17EDC7034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84BFC5-BC88-B81A-0F16-D305E8CDE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C2ACFA-401B-643E-0A58-9BED42AF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CB579B-47A5-4788-0D9E-41D6EABE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C480D6-0890-E8C3-3559-9415390C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83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9B580-32F6-FB7B-0C76-7A96A8B8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FCEEBE-3A21-CB2D-4582-E79FA6E1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E5C70E-C2D1-11E2-359F-A761674C1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D0D680-7B18-4321-847E-5915C4EB5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CC7E9D-901A-1734-1610-9A6485CDC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7BD2C0-3D48-22A4-6BEE-EC48B3A2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C741D6-6CD2-8C19-D29C-352B1B75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FCB40F-BBE5-CC21-2FCE-9351DABC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17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717CA-5966-E2B9-309E-12D55B23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1098F3-9A12-4962-EDDA-6E4A335E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F2A552-B4E2-DF8C-A9DB-59D4F656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6C84D7-7E98-7339-534E-BABDC894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33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A27A3C-9D16-C965-0213-ECA0F6F5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60167C-3FD8-3716-EC95-EF74D31C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59FA46-3FE3-625F-F0D1-77101A9B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7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50AC7-0E8F-7D62-E5FE-03086B14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2129F-9565-C6D2-DD53-DE96CAF6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7C289F-C15F-465D-3221-61215FB71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795A64-7E9A-B145-538D-710CE8A2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937A2D-B655-9500-A3D7-154B60FF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D3773-13FA-C1A0-573D-1AED7237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8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6D7C6-48AE-CA07-DD7F-8D7E1BCD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123D89-A963-16CA-0C1C-6B5F5081D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2D11D4-1409-3BB3-12F9-4BFC3FCD2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26F579-CA60-6322-6F23-DEBAE08B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C372B9-C2DC-C7F4-962A-5D0F9EB8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764ADE-3AED-E2F8-5597-E43BD43D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49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AF4DC-5797-9BE7-513E-54EABFEF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171482-AF4A-1CD5-2423-131503DE5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E9676-BD73-2EEE-1A2F-F0F7CA74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C6C4C-8136-39B8-F0FD-7AAEED55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C9888-A75A-9EAC-49D4-FD1A41A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29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CD8E90-34B0-B18B-9680-A8385E758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FB20DB-EFFF-96FA-07D0-FD19044CB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312CE-7946-BF29-0810-E029956B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55D65-4E85-3015-EAAE-6FBB8868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1B4A8C-E8E3-01F0-6B7D-4B877D95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74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D17C33-FCF1-E9B7-7281-67D231F0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13327A-F5ED-BC68-F72B-0A914A57F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72E82-506A-A0D7-6B7F-4935CAA48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28DBA-AAE0-49A2-BB17-8728D366DB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256E23-44A7-00FF-6291-C03372FF9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67FD0-614A-E33D-E4B5-BC90901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BB007-E22A-4D25-91A0-E240B6CD9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6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203FA370-C8AD-F4C7-45E1-224D3FD58636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8362950" cy="488158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lang="en-US" sz="2100" b="1" i="0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                      </a:t>
            </a:r>
            <a:r>
              <a:rPr sz="2100" b="1" i="0" dirty="0" err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问题一：参数拟合与速率预测流程</a:t>
            </a:r>
            <a:endParaRPr sz="2100" b="1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7" name="frame-A">
            <a:extLst>
              <a:ext uri="{FF2B5EF4-FFF2-40B4-BE49-F238E27FC236}">
                <a16:creationId xmlns:a16="http://schemas.microsoft.com/office/drawing/2014/main" id="{C168CEA5-8953-96E9-CA8E-8427ADB93253}"/>
              </a:ext>
            </a:extLst>
          </p:cNvPr>
          <p:cNvSpPr>
            <a:spLocks noGrp="1"/>
          </p:cNvSpPr>
          <p:nvPr/>
        </p:nvSpPr>
        <p:spPr>
          <a:xfrm>
            <a:off x="841601" y="1006929"/>
            <a:ext cx="5082948" cy="4199844"/>
          </a:xfrm>
          <a:prstGeom prst="roundRect">
            <a:avLst>
              <a:gd name="adj" fmla="val 2830"/>
            </a:avLst>
          </a:prstGeom>
          <a:solidFill>
            <a:schemeClr val="accent5">
              <a:lumMod val="40000"/>
              <a:lumOff val="60000"/>
            </a:schemeClr>
          </a:solidFill>
          <a:ln w="20003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frame-A-title">
            <a:extLst>
              <a:ext uri="{FF2B5EF4-FFF2-40B4-BE49-F238E27FC236}">
                <a16:creationId xmlns:a16="http://schemas.microsoft.com/office/drawing/2014/main" id="{5816424C-90FD-22CB-C597-C440058FA245}"/>
              </a:ext>
            </a:extLst>
          </p:cNvPr>
          <p:cNvSpPr>
            <a:spLocks noGrp="1"/>
          </p:cNvSpPr>
          <p:nvPr/>
        </p:nvSpPr>
        <p:spPr>
          <a:xfrm>
            <a:off x="742950" y="1006929"/>
            <a:ext cx="4800600" cy="402771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C78A8"/>
                </a:solidFill>
                <a:latin typeface="SimSun"/>
                <a:ea typeface="SimSun"/>
                <a:cs typeface="SimSun"/>
              </a:defRPr>
            </a:pPr>
            <a:r>
              <a:rPr sz="1500" b="1" i="0" dirty="0" err="1">
                <a:solidFill>
                  <a:srgbClr val="4C78A8"/>
                </a:solidFill>
                <a:latin typeface="SimSun"/>
                <a:ea typeface="SimSun"/>
                <a:cs typeface="SimSun"/>
              </a:rPr>
              <a:t>大框</a:t>
            </a:r>
            <a:r>
              <a:rPr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i="0" dirty="0" err="1">
                <a:solidFill>
                  <a:srgbClr val="4C78A8"/>
                </a:solidFill>
                <a:latin typeface="SimSun"/>
                <a:ea typeface="SimSun"/>
                <a:cs typeface="SimSun"/>
              </a:rPr>
              <a:t>A：基于数据集</a:t>
            </a:r>
            <a:r>
              <a:rPr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 A </a:t>
            </a:r>
            <a:r>
              <a:rPr sz="1500" b="1" i="0" dirty="0" err="1">
                <a:solidFill>
                  <a:srgbClr val="4C78A8"/>
                </a:solidFill>
                <a:latin typeface="SimSun"/>
                <a:ea typeface="SimSun"/>
                <a:cs typeface="SimSun"/>
              </a:rPr>
              <a:t>的参数拟合</a:t>
            </a:r>
            <a:endParaRPr sz="1500" b="1" i="0" dirty="0">
              <a:solidFill>
                <a:srgbClr val="4C78A8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raw-data-A">
            <a:extLst>
              <a:ext uri="{FF2B5EF4-FFF2-40B4-BE49-F238E27FC236}">
                <a16:creationId xmlns:a16="http://schemas.microsoft.com/office/drawing/2014/main" id="{2998466F-0CF3-4B90-6B3D-BA2397AC8C78}"/>
              </a:ext>
            </a:extLst>
          </p:cNvPr>
          <p:cNvSpPr>
            <a:spLocks noGrp="1"/>
          </p:cNvSpPr>
          <p:nvPr/>
        </p:nvSpPr>
        <p:spPr>
          <a:xfrm>
            <a:off x="958964" y="1538865"/>
            <a:ext cx="3362665" cy="631679"/>
          </a:xfrm>
          <a:prstGeom prst="roundRect">
            <a:avLst>
              <a:gd name="adj" fmla="val 10656"/>
            </a:avLst>
          </a:prstGeom>
          <a:solidFill>
            <a:srgbClr val="F6F7F8"/>
          </a:solidFill>
          <a:ln w="16193">
            <a:solidFill>
              <a:srgbClr val="8A969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raw-data-A-title">
            <a:extLst>
              <a:ext uri="{FF2B5EF4-FFF2-40B4-BE49-F238E27FC236}">
                <a16:creationId xmlns:a16="http://schemas.microsoft.com/office/drawing/2014/main" id="{15C950F3-E247-DA8C-38A4-7A330CD8AC4F}"/>
              </a:ext>
            </a:extLst>
          </p:cNvPr>
          <p:cNvSpPr>
            <a:spLocks noGrp="1"/>
          </p:cNvSpPr>
          <p:nvPr/>
        </p:nvSpPr>
        <p:spPr>
          <a:xfrm>
            <a:off x="933450" y="1493383"/>
            <a:ext cx="3829050" cy="299357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 dirty="0" err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原始数据</a:t>
            </a:r>
            <a:r>
              <a:rPr sz="1500" b="1" i="0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aw-data-A-formula-1">
                <a:extLst>
                  <a:ext uri="{FF2B5EF4-FFF2-40B4-BE49-F238E27FC236}">
                    <a16:creationId xmlns:a16="http://schemas.microsoft.com/office/drawing/2014/main" id="{7F0CCC7B-46A9-2729-FE68-72896057A9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900" y="1799544"/>
                <a:ext cx="3657600" cy="31704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25" b="0" i="1" dirty="0" smtClean="0">
                              <a:solidFill>
                                <a:srgbClr val="243746"/>
                              </a:solidFill>
                              <a:latin typeface="Cambria Math" panose="02040503050406030204" pitchFamily="18" charset="0"/>
                              <a:ea typeface="Latin Modern Roman"/>
                              <a:cs typeface="Latin Modern Roman"/>
                            </a:rPr>
                          </m:ctrlPr>
                        </m:sSubPr>
                        <m:e>
                          <m:r>
                            <a:rPr lang="en-US" sz="1425" b="0" i="1" dirty="0" smtClean="0">
                              <a:solidFill>
                                <a:srgbClr val="243746"/>
                              </a:solidFill>
                              <a:latin typeface="Cambria Math" panose="02040503050406030204" pitchFamily="18" charset="0"/>
                              <a:ea typeface="Latin Modern Roman"/>
                              <a:cs typeface="Latin Modern Roman"/>
                            </a:rPr>
                            <m:t>𝒟</m:t>
                          </m:r>
                        </m:e>
                        <m:sub>
                          <m:r>
                            <a:rPr lang="en-US" sz="1425" b="0" i="1" dirty="0" smtClean="0">
                              <a:solidFill>
                                <a:srgbClr val="243746"/>
                              </a:solidFill>
                              <a:latin typeface="Cambria Math" panose="02040503050406030204" pitchFamily="18" charset="0"/>
                              <a:ea typeface="Latin Modern Roman"/>
                              <a:cs typeface="Latin Modern Roman"/>
                            </a:rPr>
                            <m:t>𝐴</m:t>
                          </m:r>
                        </m:sub>
                      </m:sSub>
                      <m:r>
                        <a:rPr lang="en-US" sz="1425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 = {</m:t>
                      </m:r>
                      <m:r>
                        <a:rPr lang="en-US" sz="1425" b="0" i="1" dirty="0" err="1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𝐻</m:t>
                      </m:r>
                      <m:r>
                        <a:rPr lang="en-US" sz="1425" b="0" i="1" dirty="0" err="1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⁽ʲ⁾, </m:t>
                      </m:r>
                      <m:r>
                        <a:rPr lang="en-US" sz="1425" b="0" i="1" dirty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𝑃</m:t>
                      </m:r>
                      <m:r>
                        <a:rPr lang="en-US" sz="1425" b="0" i="1" dirty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ₙ⁽ʲ⁾, </m:t>
                      </m:r>
                      <m:r>
                        <a:rPr lang="en-US" sz="1425" b="0" i="1" dirty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𝑦</m:t>
                      </m:r>
                      <m:r>
                        <a:rPr lang="en-US" sz="1425" b="0" i="1" dirty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ⱼ</m:t>
                      </m:r>
                      <m:r>
                        <a:rPr lang="en-US" sz="1425" b="0" i="1" dirty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}</m:t>
                      </m:r>
                    </m:oMath>
                  </m:oMathPara>
                </a14:m>
                <a:endParaRPr sz="1425" b="0" i="0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</p:txBody>
          </p:sp>
        </mc:Choice>
        <mc:Fallback xmlns="">
          <p:sp>
            <p:nvSpPr>
              <p:cNvPr id="11" name="raw-data-A-formula-1">
                <a:extLst>
                  <a:ext uri="{FF2B5EF4-FFF2-40B4-BE49-F238E27FC236}">
                    <a16:creationId xmlns:a16="http://schemas.microsoft.com/office/drawing/2014/main" id="{7F0CCC7B-46A9-2729-FE68-72896057A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799544"/>
                <a:ext cx="3657600" cy="317047"/>
              </a:xfrm>
              <a:prstGeom prst="rect">
                <a:avLst/>
              </a:prstGeom>
              <a:blipFill>
                <a:blip r:embed="rId2"/>
                <a:stretch>
                  <a:fillRect b="-1153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aw-data-A-formula-2">
            <a:extLst>
              <a:ext uri="{FF2B5EF4-FFF2-40B4-BE49-F238E27FC236}">
                <a16:creationId xmlns:a16="http://schemas.microsoft.com/office/drawing/2014/main" id="{1BB7F348-B196-B87A-E326-41E32F4F4ED9}"/>
              </a:ext>
            </a:extLst>
          </p:cNvPr>
          <p:cNvSpPr>
            <a:spLocks noGrp="1"/>
          </p:cNvSpPr>
          <p:nvPr/>
        </p:nvSpPr>
        <p:spPr>
          <a:xfrm>
            <a:off x="1104900" y="2097542"/>
            <a:ext cx="4648200" cy="293234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endParaRPr sz="1200" b="0" i="0" dirty="0">
              <a:solidFill>
                <a:srgbClr val="243746"/>
              </a:solidFill>
              <a:latin typeface="Latin Modern Roman"/>
              <a:ea typeface="Latin Modern Roman"/>
              <a:cs typeface="Latin Modern Roman"/>
            </a:endParaRPr>
          </a:p>
        </p:txBody>
      </p:sp>
      <p:sp>
        <p:nvSpPr>
          <p:cNvPr id="13" name="carrier-sinr">
            <a:extLst>
              <a:ext uri="{FF2B5EF4-FFF2-40B4-BE49-F238E27FC236}">
                <a16:creationId xmlns:a16="http://schemas.microsoft.com/office/drawing/2014/main" id="{376CF21F-1C1F-A682-470B-E599625DD102}"/>
              </a:ext>
            </a:extLst>
          </p:cNvPr>
          <p:cNvSpPr>
            <a:spLocks noGrp="1"/>
          </p:cNvSpPr>
          <p:nvPr/>
        </p:nvSpPr>
        <p:spPr>
          <a:xfrm>
            <a:off x="962025" y="3790611"/>
            <a:ext cx="3468462" cy="876639"/>
          </a:xfrm>
          <a:prstGeom prst="roundRect">
            <a:avLst>
              <a:gd name="adj" fmla="val 10656"/>
            </a:avLst>
          </a:prstGeom>
          <a:solidFill>
            <a:srgbClr val="F2F6FB"/>
          </a:solidFill>
          <a:ln w="16193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carrier-sinr-title">
            <a:extLst>
              <a:ext uri="{FF2B5EF4-FFF2-40B4-BE49-F238E27FC236}">
                <a16:creationId xmlns:a16="http://schemas.microsoft.com/office/drawing/2014/main" id="{64EFFB4B-03BD-1E5B-E3C9-B066DFB56409}"/>
              </a:ext>
            </a:extLst>
          </p:cNvPr>
          <p:cNvSpPr>
            <a:spLocks noGrp="1"/>
          </p:cNvSpPr>
          <p:nvPr/>
        </p:nvSpPr>
        <p:spPr>
          <a:xfrm>
            <a:off x="1123950" y="3771560"/>
            <a:ext cx="3162297" cy="552789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500" b="1" i="0" dirty="0" err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载波级</a:t>
            </a:r>
            <a:r>
              <a:rPr sz="1500" b="1" i="0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 SINR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rrier-sinr-formula-1">
                <a:extLst>
                  <a:ext uri="{FF2B5EF4-FFF2-40B4-BE49-F238E27FC236}">
                    <a16:creationId xmlns:a16="http://schemas.microsoft.com/office/drawing/2014/main" id="{984C9CEA-7FA2-E02F-890D-90F7FD9EB4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900" y="4112284"/>
                <a:ext cx="3605359" cy="50428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350" b="0" i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𝛾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ⱼ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,ₖ = ‖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𝐻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ₖ⁽ʲ⁾‖²_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𝐹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 / 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𝑃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ₙ⁽ʲ⁾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，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𝑘</m:t>
                      </m:r>
                      <m:r>
                        <a:rPr lang="en-US" sz="1350" b="0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 = 1,…,122</m:t>
                      </m:r>
                    </m:oMath>
                  </m:oMathPara>
                </a14:m>
                <a:endParaRPr sz="1350" b="0" i="0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</p:txBody>
          </p:sp>
        </mc:Choice>
        <mc:Fallback xmlns="">
          <p:sp>
            <p:nvSpPr>
              <p:cNvPr id="15" name="carrier-sinr-formula-1">
                <a:extLst>
                  <a:ext uri="{FF2B5EF4-FFF2-40B4-BE49-F238E27FC236}">
                    <a16:creationId xmlns:a16="http://schemas.microsoft.com/office/drawing/2014/main" id="{984C9CEA-7FA2-E02F-890D-90F7FD9EB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4112284"/>
                <a:ext cx="3605359" cy="504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itting-region-label">
            <a:extLst>
              <a:ext uri="{FF2B5EF4-FFF2-40B4-BE49-F238E27FC236}">
                <a16:creationId xmlns:a16="http://schemas.microsoft.com/office/drawing/2014/main" id="{3D273A36-ECA3-A19F-A8A2-3C5D3BB9060B}"/>
              </a:ext>
            </a:extLst>
          </p:cNvPr>
          <p:cNvSpPr>
            <a:spLocks noGrp="1"/>
          </p:cNvSpPr>
          <p:nvPr/>
        </p:nvSpPr>
        <p:spPr>
          <a:xfrm>
            <a:off x="6906986" y="4186918"/>
            <a:ext cx="1504950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参数拟合区域</a:t>
            </a:r>
          </a:p>
        </p:txBody>
      </p:sp>
      <p:sp>
        <p:nvSpPr>
          <p:cNvPr id="19" name="effective-sinr-title">
            <a:extLst>
              <a:ext uri="{FF2B5EF4-FFF2-40B4-BE49-F238E27FC236}">
                <a16:creationId xmlns:a16="http://schemas.microsoft.com/office/drawing/2014/main" id="{40FAD5D0-0347-FE4D-5F45-7BE7CC711D9E}"/>
              </a:ext>
            </a:extLst>
          </p:cNvPr>
          <p:cNvSpPr>
            <a:spLocks noGrp="1"/>
          </p:cNvSpPr>
          <p:nvPr/>
        </p:nvSpPr>
        <p:spPr>
          <a:xfrm>
            <a:off x="1123950" y="5238750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endParaRPr sz="1500" b="1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0" name="effective-sinr-formula-1">
            <a:extLst>
              <a:ext uri="{FF2B5EF4-FFF2-40B4-BE49-F238E27FC236}">
                <a16:creationId xmlns:a16="http://schemas.microsoft.com/office/drawing/2014/main" id="{037FA1C5-711C-CFD5-BB96-07B94E32899E}"/>
              </a:ext>
            </a:extLst>
          </p:cNvPr>
          <p:cNvSpPr>
            <a:spLocks noGrp="1"/>
          </p:cNvSpPr>
          <p:nvPr/>
        </p:nvSpPr>
        <p:spPr>
          <a:xfrm>
            <a:off x="1104900" y="556260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endParaRPr sz="1275" b="0" i="0" dirty="0">
              <a:solidFill>
                <a:srgbClr val="243746"/>
              </a:solidFill>
              <a:latin typeface="Latin Modern Roman"/>
              <a:ea typeface="Latin Modern Roman"/>
              <a:cs typeface="Latin Modern Roman"/>
            </a:endParaRPr>
          </a:p>
        </p:txBody>
      </p:sp>
      <p:cxnSp>
        <p:nvCxnSpPr>
          <p:cNvPr id="24" name="arrow-raw-to-sinr">
            <a:extLst>
              <a:ext uri="{FF2B5EF4-FFF2-40B4-BE49-F238E27FC236}">
                <a16:creationId xmlns:a16="http://schemas.microsoft.com/office/drawing/2014/main" id="{F1E19CB9-7EBB-D680-FDCE-336C5BF1B3B6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690807" y="2213985"/>
            <a:ext cx="0" cy="492271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25" name="method-raw-to-sinr">
            <a:extLst>
              <a:ext uri="{FF2B5EF4-FFF2-40B4-BE49-F238E27FC236}">
                <a16:creationId xmlns:a16="http://schemas.microsoft.com/office/drawing/2014/main" id="{F3B4CA41-408F-1FA2-ABE1-DB4D55F62CEE}"/>
              </a:ext>
            </a:extLst>
          </p:cNvPr>
          <p:cNvSpPr>
            <a:spLocks noGrp="1"/>
          </p:cNvSpPr>
          <p:nvPr/>
        </p:nvSpPr>
        <p:spPr>
          <a:xfrm>
            <a:off x="1159329" y="2706256"/>
            <a:ext cx="3062955" cy="522719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sz="1050" b="0" i="0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Frobenius </a:t>
            </a:r>
            <a:r>
              <a:rPr sz="1050" b="0" i="0" dirty="0" err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范数与底噪归一化</a:t>
            </a:r>
            <a:endParaRPr sz="1050" b="0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9" name="method-eff-to-mcs">
            <a:extLst>
              <a:ext uri="{FF2B5EF4-FFF2-40B4-BE49-F238E27FC236}">
                <a16:creationId xmlns:a16="http://schemas.microsoft.com/office/drawing/2014/main" id="{DCBBABBD-1A30-B0E6-17DF-2CE4A60F46E5}"/>
              </a:ext>
            </a:extLst>
          </p:cNvPr>
          <p:cNvSpPr>
            <a:spLocks noGrp="1"/>
          </p:cNvSpPr>
          <p:nvPr/>
        </p:nvSpPr>
        <p:spPr>
          <a:xfrm>
            <a:off x="1949904" y="6143625"/>
            <a:ext cx="2819400" cy="3429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47625" tIns="9525" rIns="47625" bIns="9525" anchor="ctr">
            <a:normAutofit/>
          </a:bodyPr>
          <a:lstStyle/>
          <a:p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endParaRPr sz="1050" b="0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1" name="raw-data-B-title">
            <a:extLst>
              <a:ext uri="{FF2B5EF4-FFF2-40B4-BE49-F238E27FC236}">
                <a16:creationId xmlns:a16="http://schemas.microsoft.com/office/drawing/2014/main" id="{510EE1FA-8CA8-53D1-11B4-915CB2805D59}"/>
              </a:ext>
            </a:extLst>
          </p:cNvPr>
          <p:cNvSpPr>
            <a:spLocks noGrp="1"/>
          </p:cNvSpPr>
          <p:nvPr/>
        </p:nvSpPr>
        <p:spPr>
          <a:xfrm>
            <a:off x="1123950" y="10001250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endParaRPr sz="1500" b="1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2" name="raw-data-B-formula-1">
            <a:extLst>
              <a:ext uri="{FF2B5EF4-FFF2-40B4-BE49-F238E27FC236}">
                <a16:creationId xmlns:a16="http://schemas.microsoft.com/office/drawing/2014/main" id="{A6F95A7B-5AB6-881B-35C4-A75225618EC7}"/>
              </a:ext>
            </a:extLst>
          </p:cNvPr>
          <p:cNvSpPr>
            <a:spLocks noGrp="1"/>
          </p:cNvSpPr>
          <p:nvPr/>
        </p:nvSpPr>
        <p:spPr>
          <a:xfrm>
            <a:off x="841601" y="10296525"/>
            <a:ext cx="4648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endParaRPr sz="1425" b="0" i="0" dirty="0">
              <a:solidFill>
                <a:srgbClr val="243746"/>
              </a:solidFill>
              <a:latin typeface="Latin Modern Roman"/>
              <a:ea typeface="Latin Modern Roman"/>
              <a:cs typeface="Latin Modern Roman"/>
            </a:endParaRPr>
          </a:p>
        </p:txBody>
      </p:sp>
      <p:sp>
        <p:nvSpPr>
          <p:cNvPr id="33" name="raw-data-B-formula-2">
            <a:extLst>
              <a:ext uri="{FF2B5EF4-FFF2-40B4-BE49-F238E27FC236}">
                <a16:creationId xmlns:a16="http://schemas.microsoft.com/office/drawing/2014/main" id="{6C9A5AFD-7C5D-23D2-CD0C-36503DC4BAB6}"/>
              </a:ext>
            </a:extLst>
          </p:cNvPr>
          <p:cNvSpPr>
            <a:spLocks noGrp="1"/>
          </p:cNvSpPr>
          <p:nvPr/>
        </p:nvSpPr>
        <p:spPr>
          <a:xfrm>
            <a:off x="1104900" y="10648950"/>
            <a:ext cx="4648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endParaRPr sz="1200" b="0" i="0" dirty="0">
              <a:solidFill>
                <a:srgbClr val="243746"/>
              </a:solidFill>
              <a:latin typeface="Latin Modern Roman"/>
              <a:ea typeface="Latin Modern Roman"/>
              <a:cs typeface="Latin Modern Roman"/>
            </a:endParaRPr>
          </a:p>
        </p:txBody>
      </p:sp>
      <p:sp>
        <p:nvSpPr>
          <p:cNvPr id="38" name="mcs-prediction-title">
            <a:extLst>
              <a:ext uri="{FF2B5EF4-FFF2-40B4-BE49-F238E27FC236}">
                <a16:creationId xmlns:a16="http://schemas.microsoft.com/office/drawing/2014/main" id="{69451F55-5540-74B6-954C-115DC7A2D05A}"/>
              </a:ext>
            </a:extLst>
          </p:cNvPr>
          <p:cNvSpPr>
            <a:spLocks noGrp="1"/>
          </p:cNvSpPr>
          <p:nvPr/>
        </p:nvSpPr>
        <p:spPr>
          <a:xfrm>
            <a:off x="1123950" y="12325350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endParaRPr sz="1500" b="1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9" name="mcs-prediction-formula-1">
            <a:extLst>
              <a:ext uri="{FF2B5EF4-FFF2-40B4-BE49-F238E27FC236}">
                <a16:creationId xmlns:a16="http://schemas.microsoft.com/office/drawing/2014/main" id="{FAD3CF3E-08C7-0474-FA49-3A4E20ACD31F}"/>
              </a:ext>
            </a:extLst>
          </p:cNvPr>
          <p:cNvSpPr>
            <a:spLocks noGrp="1"/>
          </p:cNvSpPr>
          <p:nvPr/>
        </p:nvSpPr>
        <p:spPr>
          <a:xfrm>
            <a:off x="1104900" y="1264920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243746"/>
                </a:solidFill>
                <a:latin typeface="Latin Modern Roman"/>
                <a:ea typeface="Latin Modern Roman"/>
                <a:cs typeface="Latin Modern Roman"/>
              </a:defRPr>
            </a:pPr>
            <a:endParaRPr lang="cy-GB" sz="1425" b="0" i="0" dirty="0">
              <a:solidFill>
                <a:srgbClr val="243746"/>
              </a:solidFill>
              <a:latin typeface="Latin Modern Roman"/>
              <a:ea typeface="Latin Modern Roman"/>
              <a:cs typeface="Latin Modern Roman"/>
            </a:endParaRPr>
          </a:p>
        </p:txBody>
      </p:sp>
      <p:cxnSp>
        <p:nvCxnSpPr>
          <p:cNvPr id="56" name="arrow-raw-to-sinr">
            <a:extLst>
              <a:ext uri="{FF2B5EF4-FFF2-40B4-BE49-F238E27FC236}">
                <a16:creationId xmlns:a16="http://schemas.microsoft.com/office/drawing/2014/main" id="{A830E5C9-E0F1-002E-8035-1FDA561003DE}"/>
              </a:ext>
            </a:extLst>
          </p:cNvPr>
          <p:cNvCxnSpPr>
            <a:cxnSpLocks/>
          </p:cNvCxnSpPr>
          <p:nvPr/>
        </p:nvCxnSpPr>
        <p:spPr>
          <a:xfrm>
            <a:off x="2690807" y="3286329"/>
            <a:ext cx="4598" cy="504282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64" name="frame-A">
            <a:extLst>
              <a:ext uri="{FF2B5EF4-FFF2-40B4-BE49-F238E27FC236}">
                <a16:creationId xmlns:a16="http://schemas.microsoft.com/office/drawing/2014/main" id="{F21F3719-7008-453B-C028-F736A60397B2}"/>
              </a:ext>
            </a:extLst>
          </p:cNvPr>
          <p:cNvSpPr>
            <a:spLocks noGrp="1"/>
          </p:cNvSpPr>
          <p:nvPr/>
        </p:nvSpPr>
        <p:spPr>
          <a:xfrm>
            <a:off x="6218115" y="1006927"/>
            <a:ext cx="4504314" cy="4231823"/>
          </a:xfrm>
          <a:prstGeom prst="roundRect">
            <a:avLst>
              <a:gd name="adj" fmla="val 2830"/>
            </a:avLst>
          </a:prstGeom>
          <a:solidFill>
            <a:schemeClr val="accent5">
              <a:lumMod val="40000"/>
              <a:lumOff val="60000"/>
            </a:schemeClr>
          </a:solidFill>
          <a:ln w="20003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5" name="frame-A-title">
            <a:extLst>
              <a:ext uri="{FF2B5EF4-FFF2-40B4-BE49-F238E27FC236}">
                <a16:creationId xmlns:a16="http://schemas.microsoft.com/office/drawing/2014/main" id="{88684C8D-D9BD-AEE0-687C-568E17B88179}"/>
              </a:ext>
            </a:extLst>
          </p:cNvPr>
          <p:cNvSpPr>
            <a:spLocks noGrp="1"/>
          </p:cNvSpPr>
          <p:nvPr/>
        </p:nvSpPr>
        <p:spPr>
          <a:xfrm>
            <a:off x="6193970" y="904875"/>
            <a:ext cx="3679373" cy="817109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C78A8"/>
                </a:solidFill>
                <a:latin typeface="SimSun"/>
                <a:ea typeface="SimSun"/>
                <a:cs typeface="SimSun"/>
              </a:defRPr>
            </a:pPr>
            <a:r>
              <a:rPr sz="1500" b="1" i="0" dirty="0" err="1">
                <a:solidFill>
                  <a:srgbClr val="4C78A8"/>
                </a:solidFill>
                <a:latin typeface="SimSun"/>
                <a:ea typeface="SimSun"/>
                <a:cs typeface="SimSun"/>
              </a:rPr>
              <a:t>大框</a:t>
            </a:r>
            <a:r>
              <a:rPr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 </a:t>
            </a:r>
            <a:r>
              <a:rPr lang="en-US" sz="1500" b="1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B</a:t>
            </a:r>
            <a:r>
              <a:rPr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：</a:t>
            </a:r>
            <a:r>
              <a:rPr lang="zh-CN" altLang="en-US"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基于数据集</a:t>
            </a:r>
            <a:r>
              <a:rPr lang="en-US" altLang="zh-CN"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A</a:t>
            </a:r>
            <a:r>
              <a:rPr lang="zh-CN" altLang="en-US" sz="1500" b="1" i="0" dirty="0">
                <a:solidFill>
                  <a:srgbClr val="4C78A8"/>
                </a:solidFill>
                <a:latin typeface="SimSun"/>
                <a:ea typeface="SimSun"/>
                <a:cs typeface="SimSun"/>
              </a:rPr>
              <a:t>的参数迁移</a:t>
            </a:r>
            <a:endParaRPr sz="1500" b="1" i="0" dirty="0">
              <a:solidFill>
                <a:srgbClr val="4C78A8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82B5D41-891D-10D5-6D7C-CC0B60CFF410}"/>
              </a:ext>
            </a:extLst>
          </p:cNvPr>
          <p:cNvSpPr/>
          <p:nvPr/>
        </p:nvSpPr>
        <p:spPr>
          <a:xfrm>
            <a:off x="5196573" y="3442268"/>
            <a:ext cx="569454" cy="15401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lang="en-US" altLang="zh-CN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EESM </a:t>
            </a:r>
            <a:r>
              <a:rPr lang="zh-CN" altLang="en-US" dirty="0">
                <a:solidFill>
                  <a:srgbClr val="243746"/>
                </a:solidFill>
                <a:latin typeface="SimSun"/>
                <a:ea typeface="SimSun"/>
                <a:cs typeface="SimSun"/>
              </a:rPr>
              <a:t>指数映射</a:t>
            </a:r>
          </a:p>
        </p:txBody>
      </p:sp>
      <p:cxnSp>
        <p:nvCxnSpPr>
          <p:cNvPr id="71" name="arrow-raw-to-sinr">
            <a:extLst>
              <a:ext uri="{FF2B5EF4-FFF2-40B4-BE49-F238E27FC236}">
                <a16:creationId xmlns:a16="http://schemas.microsoft.com/office/drawing/2014/main" id="{32214838-1AA3-B23A-319B-5629967FCDBB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4384903" y="4212331"/>
            <a:ext cx="811670" cy="12790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E4EBF24-83E3-1A63-DEDB-BE0F2B94E7B4}"/>
              </a:ext>
            </a:extLst>
          </p:cNvPr>
          <p:cNvSpPr/>
          <p:nvPr/>
        </p:nvSpPr>
        <p:spPr>
          <a:xfrm>
            <a:off x="5189002" y="1117759"/>
            <a:ext cx="569454" cy="15401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050" b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等效 </a:t>
            </a:r>
            <a:r>
              <a:rPr lang="en-US" altLang="zh-CN" sz="1050" b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SINR</a:t>
            </a:r>
            <a:r>
              <a:rPr lang="zh-CN" altLang="en-US" sz="1050" b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：</a:t>
            </a:r>
            <a:r>
              <a:rPr lang="en-US" altLang="zh-CN" sz="1050" b="1">
                <a:solidFill>
                  <a:srgbClr val="243746"/>
                </a:solidFill>
                <a:latin typeface="SimSun"/>
                <a:ea typeface="SimSun"/>
                <a:cs typeface="SimSun"/>
              </a:rPr>
              <a:t>SINR_eff</a:t>
            </a:r>
            <a:endParaRPr lang="en-US" altLang="zh-CN" sz="1050" b="1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cxnSp>
        <p:nvCxnSpPr>
          <p:cNvPr id="78" name="arrow-raw-to-sinr">
            <a:extLst>
              <a:ext uri="{FF2B5EF4-FFF2-40B4-BE49-F238E27FC236}">
                <a16:creationId xmlns:a16="http://schemas.microsoft.com/office/drawing/2014/main" id="{DECCC2BA-EB1F-15CF-CAF6-95B5656F86AF}"/>
              </a:ext>
            </a:extLst>
          </p:cNvPr>
          <p:cNvCxnSpPr>
            <a:cxnSpLocks/>
            <a:stCxn id="66" idx="0"/>
            <a:endCxn id="77" idx="2"/>
          </p:cNvCxnSpPr>
          <p:nvPr/>
        </p:nvCxnSpPr>
        <p:spPr>
          <a:xfrm flipH="1" flipV="1">
            <a:off x="5473729" y="2657884"/>
            <a:ext cx="7571" cy="784384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ffective-sinr">
                <a:extLst>
                  <a:ext uri="{FF2B5EF4-FFF2-40B4-BE49-F238E27FC236}">
                    <a16:creationId xmlns:a16="http://schemas.microsoft.com/office/drawing/2014/main" id="{01A130F3-9CFD-6ADC-B989-A7CFAEDDE3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57274" y="1593601"/>
                <a:ext cx="3685490" cy="576943"/>
              </a:xfrm>
              <a:prstGeom prst="roundRect">
                <a:avLst>
                  <a:gd name="adj" fmla="val 10156"/>
                </a:avLst>
              </a:prstGeom>
              <a:solidFill>
                <a:srgbClr val="EEF8F6"/>
              </a:solidFill>
              <a:ln w="16193">
                <a:solidFill>
                  <a:srgbClr val="2A9D8F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275" b="0" i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𝑧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ⱼ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(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𝛼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,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𝛽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) = −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𝛼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ln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⁡[(1/122) ∑ₖ₌₁¹²² 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exp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⁡(−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𝛾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ⱼ</m:t>
                      </m:r>
                      <m:r>
                        <a:rPr lang="en-US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,ₖ/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𝛽</m:t>
                      </m:r>
                      <m:r>
                        <a:rPr lang="el-GR" altLang="zh-CN" i="1" dirty="0" smtClean="0">
                          <a:solidFill>
                            <a:srgbClr val="243746"/>
                          </a:solidFill>
                          <a:latin typeface="Cambria Math" panose="02040503050406030204" pitchFamily="18" charset="0"/>
                          <a:ea typeface="Latin Modern Roman"/>
                          <a:cs typeface="Latin Modern Roman"/>
                        </a:rPr>
                        <m:t>)]</m:t>
                      </m:r>
                    </m:oMath>
                  </m:oMathPara>
                </a14:m>
                <a:endParaRPr lang="en-US" altLang="zh-CN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  <a:p>
                <a:pPr algn="ctr">
                  <a:defRPr sz="1275" b="0" i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defRPr>
                </a:pPr>
                <a:r>
                  <a:rPr lang="zh-CN" altLang="cy-GB" sz="1400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有序阈值映射：</a:t>
                </a:r>
                <a14:m>
                  <m:oMath xmlns:m="http://schemas.openxmlformats.org/officeDocument/2006/math">
                    <m:r>
                      <a:rPr lang="cy-GB" altLang="zh-CN" sz="1400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SimSun"/>
                        <a:cs typeface="SimSun"/>
                      </a:rPr>
                      <m:t>ŷ = </m:t>
                    </m:r>
                    <m:sSub>
                      <m:sSubPr>
                        <m:ctrlPr>
                          <a:rPr lang="cy-GB" altLang="zh-CN" sz="1400" i="1" dirty="0" smtClean="0">
                            <a:solidFill>
                              <a:srgbClr val="243746"/>
                            </a:solidFill>
                            <a:latin typeface="Cambria Math" panose="02040503050406030204" pitchFamily="18" charset="0"/>
                            <a:ea typeface="SimSun"/>
                            <a:cs typeface="SimSun"/>
                          </a:rPr>
                        </m:ctrlPr>
                      </m:sSubPr>
                      <m:e>
                        <m:r>
                          <a:rPr lang="cy-GB" altLang="zh-CN" sz="1400" i="1" dirty="0" smtClean="0">
                            <a:solidFill>
                              <a:srgbClr val="243746"/>
                            </a:solidFill>
                            <a:latin typeface="Cambria Math" panose="02040503050406030204" pitchFamily="18" charset="0"/>
                            <a:ea typeface="SimSun"/>
                            <a:cs typeface="SimSun"/>
                          </a:rPr>
                          <m:t>𝑄</m:t>
                        </m:r>
                      </m:e>
                      <m:sub>
                        <m:r>
                          <a:rPr lang="el-GR" altLang="zh-CN" sz="1400" i="1" dirty="0">
                            <a:solidFill>
                              <a:srgbClr val="243746"/>
                            </a:solidFill>
                            <a:latin typeface="Cambria Math" panose="02040503050406030204" pitchFamily="18" charset="0"/>
                            <a:ea typeface="SimSun"/>
                            <a:cs typeface="SimSun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el-GR" altLang="zh-CN" sz="1400" i="1" dirty="0" smtClean="0">
                            <a:solidFill>
                              <a:srgbClr val="243746"/>
                            </a:solidFill>
                            <a:latin typeface="Cambria Math" panose="02040503050406030204" pitchFamily="18" charset="0"/>
                            <a:ea typeface="SimSun"/>
                            <a:cs typeface="SimSun"/>
                          </a:rPr>
                        </m:ctrlPr>
                      </m:dPr>
                      <m:e>
                        <m:r>
                          <a:rPr lang="cy-GB" altLang="zh-CN" sz="1400" i="1" dirty="0">
                            <a:solidFill>
                              <a:srgbClr val="243746"/>
                            </a:solidFill>
                            <a:latin typeface="Cambria Math" panose="02040503050406030204" pitchFamily="18" charset="0"/>
                            <a:ea typeface="SimSun"/>
                            <a:cs typeface="SimSun"/>
                          </a:rPr>
                          <m:t>𝑧</m:t>
                        </m:r>
                      </m:e>
                    </m:d>
                  </m:oMath>
                </a14:m>
                <a:endParaRPr lang="cy-GB" altLang="zh-CN" sz="1400" dirty="0">
                  <a:solidFill>
                    <a:srgbClr val="243746"/>
                  </a:solidFill>
                  <a:latin typeface="SimSun"/>
                  <a:ea typeface="SimSun"/>
                  <a:cs typeface="SimSun"/>
                </a:endParaRPr>
              </a:p>
              <a:p>
                <a:pPr algn="ctr">
                  <a:defRPr sz="1275" b="0" i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defRPr>
                </a:pPr>
                <a:endParaRPr lang="el-GR" altLang="zh-CN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</p:txBody>
          </p:sp>
        </mc:Choice>
        <mc:Fallback xmlns="">
          <p:sp>
            <p:nvSpPr>
              <p:cNvPr id="18" name="effective-sinr">
                <a:extLst>
                  <a:ext uri="{FF2B5EF4-FFF2-40B4-BE49-F238E27FC236}">
                    <a16:creationId xmlns:a16="http://schemas.microsoft.com/office/drawing/2014/main" id="{01A130F3-9CFD-6ADC-B989-A7CFAEDDE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274" y="1593601"/>
                <a:ext cx="3685490" cy="576943"/>
              </a:xfrm>
              <a:prstGeom prst="roundRect">
                <a:avLst>
                  <a:gd name="adj" fmla="val 10156"/>
                </a:avLst>
              </a:prstGeom>
              <a:blipFill>
                <a:blip r:embed="rId4"/>
                <a:stretch>
                  <a:fillRect/>
                </a:stretch>
              </a:blipFill>
              <a:ln w="16193">
                <a:solidFill>
                  <a:srgbClr val="2A9D8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arrow-eff-to-mcs">
            <a:extLst>
              <a:ext uri="{FF2B5EF4-FFF2-40B4-BE49-F238E27FC236}">
                <a16:creationId xmlns:a16="http://schemas.microsoft.com/office/drawing/2014/main" id="{150B8BE9-3198-7019-7634-4B5718F84D95}"/>
              </a:ext>
            </a:extLst>
          </p:cNvPr>
          <p:cNvCxnSpPr>
            <a:cxnSpLocks/>
            <a:stCxn id="77" idx="3"/>
            <a:endCxn id="18" idx="1"/>
          </p:cNvCxnSpPr>
          <p:nvPr/>
        </p:nvCxnSpPr>
        <p:spPr>
          <a:xfrm flipV="1">
            <a:off x="5758456" y="1882073"/>
            <a:ext cx="698818" cy="5749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mcs-index">
                <a:extLst>
                  <a:ext uri="{FF2B5EF4-FFF2-40B4-BE49-F238E27FC236}">
                    <a16:creationId xmlns:a16="http://schemas.microsoft.com/office/drawing/2014/main" id="{C5F8EB1E-FA88-BD39-3B53-32CE3CBA96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19521" y="2694094"/>
                <a:ext cx="3469143" cy="842570"/>
              </a:xfrm>
              <a:prstGeom prst="roundRect">
                <a:avLst>
                  <a:gd name="adj" fmla="val 11607"/>
                </a:avLst>
              </a:prstGeom>
              <a:solidFill>
                <a:srgbClr val="F6F1F8"/>
              </a:solidFill>
              <a:ln w="16193">
                <a:solidFill>
                  <a:srgbClr val="7A5195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sz="1500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         MCS（</a:t>
                </a:r>
                <a:r>
                  <a:rPr lang="zh-CN" altLang="en-US" sz="1500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速率索引）</a:t>
                </a:r>
              </a:p>
              <a:p>
                <a:r>
                  <a:rPr lang="en-US" altLang="zh-CN" sz="1500" dirty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1500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𝑦</m:t>
                    </m:r>
                    <m:r>
                      <a:rPr lang="en-US" altLang="zh-CN" sz="1500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ⱼ</m:t>
                    </m:r>
                    <m:r>
                      <a:rPr lang="en-US" altLang="zh-CN" sz="1500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 ∈ {</m:t>
                    </m:r>
                    <m:r>
                      <a:rPr lang="en-US" altLang="zh-CN" sz="1500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𝑚</m:t>
                    </m:r>
                    <m:r>
                      <a:rPr lang="en-US" altLang="zh-CN" sz="1500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₀, </m:t>
                    </m:r>
                    <m:r>
                      <a:rPr lang="en-US" altLang="zh-CN" sz="1500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𝑚</m:t>
                    </m:r>
                    <m:r>
                      <a:rPr lang="en-US" altLang="zh-CN" sz="1500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₁, …, </m:t>
                    </m:r>
                    <m:r>
                      <a:rPr lang="en-US" altLang="zh-CN" sz="1500" i="1" dirty="0" err="1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𝑚</m:t>
                    </m:r>
                    <m:r>
                      <a:rPr lang="en-US" altLang="zh-CN" sz="1500" i="1" dirty="0" err="1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_</m:t>
                    </m:r>
                    <m:r>
                      <a:rPr lang="en-US" altLang="zh-CN" sz="1500" i="1" dirty="0" err="1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𝐿</m:t>
                    </m:r>
                    <m:r>
                      <a:rPr lang="en-US" altLang="zh-CN" sz="1500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}</m:t>
                    </m:r>
                  </m:oMath>
                </a14:m>
                <a:endParaRPr lang="en-US" altLang="zh-CN" sz="1500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8" name="mcs-index">
                <a:extLst>
                  <a:ext uri="{FF2B5EF4-FFF2-40B4-BE49-F238E27FC236}">
                    <a16:creationId xmlns:a16="http://schemas.microsoft.com/office/drawing/2014/main" id="{C5F8EB1E-FA88-BD39-3B53-32CE3CBA9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21" y="2694094"/>
                <a:ext cx="3469143" cy="842570"/>
              </a:xfrm>
              <a:prstGeom prst="roundRect">
                <a:avLst>
                  <a:gd name="adj" fmla="val 11607"/>
                </a:avLst>
              </a:prstGeom>
              <a:blipFill>
                <a:blip r:embed="rId5"/>
                <a:stretch>
                  <a:fillRect/>
                </a:stretch>
              </a:blipFill>
              <a:ln w="16193">
                <a:solidFill>
                  <a:srgbClr val="7A5195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mcs-index-title">
            <a:extLst>
              <a:ext uri="{FF2B5EF4-FFF2-40B4-BE49-F238E27FC236}">
                <a16:creationId xmlns:a16="http://schemas.microsoft.com/office/drawing/2014/main" id="{07B027E9-1B94-5629-5ADD-ABE381BD93CC}"/>
              </a:ext>
            </a:extLst>
          </p:cNvPr>
          <p:cNvSpPr>
            <a:spLocks noGrp="1"/>
          </p:cNvSpPr>
          <p:nvPr/>
        </p:nvSpPr>
        <p:spPr>
          <a:xfrm>
            <a:off x="1123950" y="6934200"/>
            <a:ext cx="4610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43746"/>
                </a:solidFill>
                <a:latin typeface="SimSun"/>
                <a:ea typeface="SimSun"/>
                <a:cs typeface="SimSun"/>
              </a:defRPr>
            </a:pPr>
            <a:endParaRPr lang="zh-CN" altLang="en-US" sz="1500" b="1" i="0" dirty="0">
              <a:solidFill>
                <a:srgbClr val="243746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5" name="fit-model-note">
            <a:extLst>
              <a:ext uri="{FF2B5EF4-FFF2-40B4-BE49-F238E27FC236}">
                <a16:creationId xmlns:a16="http://schemas.microsoft.com/office/drawing/2014/main" id="{4A87D1AC-42A4-5FBD-5C50-A2354AF8D541}"/>
              </a:ext>
            </a:extLst>
          </p:cNvPr>
          <p:cNvSpPr>
            <a:spLocks noGrp="1"/>
          </p:cNvSpPr>
          <p:nvPr/>
        </p:nvSpPr>
        <p:spPr>
          <a:xfrm>
            <a:off x="8254093" y="3565072"/>
            <a:ext cx="2025426" cy="4780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txBody>
          <a:bodyPr wrap="square" lIns="76200" tIns="19050" rIns="38100" bIns="19050" anchor="ctr">
            <a:normAutofit/>
          </a:bodyPr>
          <a:lstStyle/>
          <a:p>
            <a:pPr algn="l">
              <a:defRPr sz="1275" b="1" i="0">
                <a:solidFill>
                  <a:srgbClr val="7A5195"/>
                </a:solidFill>
                <a:latin typeface="SimSun"/>
                <a:ea typeface="SimSun"/>
                <a:cs typeface="SimSun"/>
              </a:defRPr>
            </a:pPr>
            <a:r>
              <a:rPr sz="1275" b="1" i="0" dirty="0" err="1">
                <a:solidFill>
                  <a:srgbClr val="7A5195"/>
                </a:solidFill>
                <a:latin typeface="SimSun"/>
                <a:ea typeface="SimSun"/>
                <a:cs typeface="SimSun"/>
              </a:rPr>
              <a:t>参数拟合模型</a:t>
            </a:r>
            <a:endParaRPr sz="1275" b="1" i="0" dirty="0">
              <a:solidFill>
                <a:srgbClr val="7A5195"/>
              </a:solidFill>
              <a:latin typeface="SimSun"/>
              <a:ea typeface="SimSun"/>
              <a:cs typeface="SimSun"/>
            </a:endParaRPr>
          </a:p>
          <a:p>
            <a:pPr algn="l">
              <a:defRPr sz="1275" b="1" i="0">
                <a:solidFill>
                  <a:srgbClr val="7A5195"/>
                </a:solidFill>
                <a:latin typeface="SimSun"/>
                <a:ea typeface="SimSun"/>
                <a:cs typeface="SimSun"/>
              </a:defRPr>
            </a:pPr>
            <a:r>
              <a:rPr sz="1275" b="1" i="0" dirty="0">
                <a:solidFill>
                  <a:srgbClr val="7A5195"/>
                </a:solidFill>
                <a:latin typeface="SimSun"/>
                <a:ea typeface="SimSun"/>
                <a:cs typeface="SimSun"/>
              </a:rPr>
              <a:t>EESM + </a:t>
            </a:r>
            <a:r>
              <a:rPr sz="1275" b="1" i="0" dirty="0" err="1">
                <a:solidFill>
                  <a:srgbClr val="7A5195"/>
                </a:solidFill>
                <a:latin typeface="SimSun"/>
                <a:ea typeface="SimSun"/>
                <a:cs typeface="SimSun"/>
              </a:rPr>
              <a:t>有序阈值</a:t>
            </a:r>
            <a:endParaRPr sz="1275" b="1" i="0" dirty="0">
              <a:solidFill>
                <a:srgbClr val="7A5195"/>
              </a:solidFill>
              <a:latin typeface="SimSun"/>
              <a:ea typeface="SimSun"/>
              <a:cs typeface="SimSun"/>
            </a:endParaRPr>
          </a:p>
        </p:txBody>
      </p:sp>
      <p:cxnSp>
        <p:nvCxnSpPr>
          <p:cNvPr id="112" name="arrow-raw-to-sinr">
            <a:extLst>
              <a:ext uri="{FF2B5EF4-FFF2-40B4-BE49-F238E27FC236}">
                <a16:creationId xmlns:a16="http://schemas.microsoft.com/office/drawing/2014/main" id="{5533EB8B-4404-DBE1-019B-037E824045CD}"/>
              </a:ext>
            </a:extLst>
          </p:cNvPr>
          <p:cNvCxnSpPr>
            <a:cxnSpLocks/>
          </p:cNvCxnSpPr>
          <p:nvPr/>
        </p:nvCxnSpPr>
        <p:spPr>
          <a:xfrm>
            <a:off x="8155436" y="2201823"/>
            <a:ext cx="0" cy="492271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p:cxnSp>
        <p:nvCxnSpPr>
          <p:cNvPr id="113" name="arrow-raw-to-sinr">
            <a:extLst>
              <a:ext uri="{FF2B5EF4-FFF2-40B4-BE49-F238E27FC236}">
                <a16:creationId xmlns:a16="http://schemas.microsoft.com/office/drawing/2014/main" id="{E5448208-FFB9-51FE-79C0-5ECA5CD94C8F}"/>
              </a:ext>
            </a:extLst>
          </p:cNvPr>
          <p:cNvCxnSpPr>
            <a:cxnSpLocks/>
          </p:cNvCxnSpPr>
          <p:nvPr/>
        </p:nvCxnSpPr>
        <p:spPr>
          <a:xfrm>
            <a:off x="8155436" y="3565072"/>
            <a:ext cx="0" cy="478086"/>
          </a:xfrm>
          <a:prstGeom prst="straightConnector1">
            <a:avLst/>
          </a:prstGeom>
          <a:ln w="20955">
            <a:solidFill>
              <a:srgbClr val="4C78A8"/>
            </a:solidFill>
            <a:prstDash val="soli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mcs-prediction">
                <a:extLst>
                  <a:ext uri="{FF2B5EF4-FFF2-40B4-BE49-F238E27FC236}">
                    <a16:creationId xmlns:a16="http://schemas.microsoft.com/office/drawing/2014/main" id="{013B79C4-EFE2-71FA-E9B1-5D9033F9BA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08614" y="4071566"/>
                <a:ext cx="3791636" cy="748802"/>
              </a:xfrm>
              <a:prstGeom prst="roundRect">
                <a:avLst>
                  <a:gd name="adj" fmla="val 11607"/>
                </a:avLst>
              </a:prstGeom>
              <a:solidFill>
                <a:srgbClr val="F6F1F8"/>
              </a:solidFill>
              <a:ln w="16193">
                <a:solidFill>
                  <a:srgbClr val="7A5195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       B</a:t>
                </a:r>
                <a:r>
                  <a:rPr lang="zh-CN" altLang="en-US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数据集</a:t>
                </a:r>
                <a:r>
                  <a:rPr lang="en-US" altLang="zh-CN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MCS</a:t>
                </a:r>
                <a:r>
                  <a:rPr lang="zh-CN" altLang="en-US" b="1" dirty="0">
                    <a:solidFill>
                      <a:srgbClr val="243746"/>
                    </a:solidFill>
                    <a:latin typeface="SimSun"/>
                    <a:ea typeface="SimSun"/>
                    <a:cs typeface="SimSun"/>
                  </a:rPr>
                  <a:t>预测结果</a:t>
                </a:r>
              </a:p>
              <a:p>
                <a:r>
                  <a:rPr lang="cy-GB" altLang="zh-CN" dirty="0">
                    <a:solidFill>
                      <a:srgbClr val="243746"/>
                    </a:solidFill>
                    <a:latin typeface="Latin Modern Roman"/>
                    <a:ea typeface="Latin Modern Roman"/>
                    <a:cs typeface="Latin Modern Roman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cy-GB" altLang="zh-CN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ŷ</m:t>
                    </m:r>
                    <m:r>
                      <a:rPr lang="cy-GB" altLang="zh-CN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ⱼ</m:t>
                    </m:r>
                    <m:r>
                      <a:rPr lang="cy-GB" altLang="zh-CN" i="1" dirty="0" smtClean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 = 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𝑄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_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𝜏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 ̂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 [ 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𝑧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ⱼ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(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1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, 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𝛽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 ̂</m:t>
                    </m:r>
                    <m:r>
                      <a:rPr lang="el-GR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_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𝑜𝑟𝑑</m:t>
                    </m:r>
                    <m:r>
                      <a:rPr lang="cy-GB" altLang="zh-CN" i="1" dirty="0">
                        <a:solidFill>
                          <a:srgbClr val="243746"/>
                        </a:solidFill>
                        <a:latin typeface="Cambria Math" panose="02040503050406030204" pitchFamily="18" charset="0"/>
                        <a:ea typeface="Latin Modern Roman"/>
                        <a:cs typeface="Latin Modern Roman"/>
                      </a:rPr>
                      <m:t>) ]</m:t>
                    </m:r>
                  </m:oMath>
                </a14:m>
                <a:endParaRPr lang="cy-GB" altLang="zh-CN" dirty="0">
                  <a:solidFill>
                    <a:srgbClr val="243746"/>
                  </a:solidFill>
                  <a:latin typeface="Latin Modern Roman"/>
                  <a:ea typeface="Latin Modern Roman"/>
                  <a:cs typeface="Latin Modern Roman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7" name="mcs-prediction">
                <a:extLst>
                  <a:ext uri="{FF2B5EF4-FFF2-40B4-BE49-F238E27FC236}">
                    <a16:creationId xmlns:a16="http://schemas.microsoft.com/office/drawing/2014/main" id="{013B79C4-EFE2-71FA-E9B1-5D9033F9B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614" y="4071566"/>
                <a:ext cx="3791636" cy="748802"/>
              </a:xfrm>
              <a:prstGeom prst="roundRect">
                <a:avLst>
                  <a:gd name="adj" fmla="val 11607"/>
                </a:avLst>
              </a:prstGeom>
              <a:blipFill>
                <a:blip r:embed="rId6"/>
                <a:stretch>
                  <a:fillRect l="-480" b="-4762"/>
                </a:stretch>
              </a:blipFill>
              <a:ln w="16193">
                <a:solidFill>
                  <a:srgbClr val="7A5195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82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Latin Modern Roman</vt:lpstr>
      <vt:lpstr>等线</vt:lpstr>
      <vt:lpstr>等线 Light</vt:lpstr>
      <vt:lpstr>SimSun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3051397816@qq.com</dc:creator>
  <cp:lastModifiedBy>3051397816@qq.com</cp:lastModifiedBy>
  <cp:revision>2</cp:revision>
  <dcterms:created xsi:type="dcterms:W3CDTF">2026-09-19T01:41:31Z</dcterms:created>
  <dcterms:modified xsi:type="dcterms:W3CDTF">2026-09-19T02:16:56Z</dcterms:modified>
</cp:coreProperties>
</file>